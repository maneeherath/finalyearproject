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Gaming Behavior &amp; Cognitive Performance Predictor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8BDF8"/>
                </a:solidFill>
                <a:latin typeface="Calibri"/>
              </a:defRPr>
            </a:pPr>
            <a:r>
              <a:t>A Multimodal Late Fusion Approach with Clinical Neuropsychological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BBF24"/>
                </a:solidFill>
                <a:latin typeface="Calibri"/>
              </a:defRPr>
            </a:pPr>
            <a:r>
              <a:t>Progress Review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1"/>
                </a:solidFill>
                <a:latin typeface="Calibri"/>
              </a:defRPr>
            </a:pPr>
            <a:r>
              <a:t>P R M K Herath  |  D/BCS/23/0009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BSc (Hons) Computer Science  |  General Sir John Kotelawala Defence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54864" cy="41148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1887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Recap of Progress Review 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54864" cy="41148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373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37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System Architecture &amp; Methodology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286000"/>
            <a:ext cx="54864" cy="41148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2860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286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Machine Learning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834639"/>
            <a:ext cx="54864" cy="41148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834639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8346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Novelty: Multimodal Late Fusion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383280"/>
            <a:ext cx="54864" cy="4114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3832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832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Novelty: Clinical Neuropsychological Tests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931920"/>
            <a:ext cx="54864" cy="41148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9319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931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Novelty: Live Webcam Eye Fatigue Scanner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480559"/>
            <a:ext cx="54864" cy="41148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480559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48055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Results &amp; Evaluation Metrics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029200"/>
            <a:ext cx="54864" cy="41148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0292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029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Web Application Demo (Streamlit v5)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577840"/>
            <a:ext cx="54864" cy="41148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5778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577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01  Recap of Progress Review 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4864" cy="502920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DE80"/>
                </a:solidFill>
                <a:latin typeface="Calibri"/>
              </a:defRPr>
            </a:pPr>
            <a:r>
              <a:t>Completed in Review I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   Problem Identification &amp; Scope: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   • Defined gaming addiction impact on KDU undergrads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   Data Collection &amp; Tabular Model Baseline: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   • Primary survey of 300 student records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   • Benchmarked 14 ML models -&gt; RF baseline established (83.0% CV Acc)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   Initial Prototype: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   • basic Streamlit UI with static survey risk calculation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029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4864" cy="50292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3716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  <a:latin typeface="Calibri"/>
              </a:defRPr>
            </a:pPr>
            <a:r>
              <a:t>Feedback &amp; Expansion (Review II)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   Panel Recommendations Received: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   1. Move beyond single-modality survey models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   2. Add objective cognitive &amp; visual measurement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   3. Implement formal multimodal data fusion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FBBF24"/>
                </a:solidFill>
                <a:latin typeface="Calibri"/>
              </a:defRPr>
            </a:pPr>
            <a:r>
              <a:t>   Major Progress Delivered for Review II: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   • Log-Linear Late Fusion Engine (+3% accuracy gain)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   • 4 Clinical Neuropsych Tests (Stroop, Flanker, DSST, Grid)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   • Live Webcam Eye Fatigue Detector (CNN 93.4% Acc)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   • Advanced Streamlit v5 Web Application &amp; PDF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02  System Architecture - Multimodal Late Fusion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4747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4864" cy="109728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Tabular Data</a:t>
            </a:r>
            <a:br/>
            <a:r>
              <a:t>(Survey &amp; Demographics)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331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8BDF8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347472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Calibri"/>
              </a:defRPr>
            </a:pPr>
            <a:r>
              <a:t>Random Forest</a:t>
            </a:r>
            <a:br/>
            <a:r>
              <a:t>Classifier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188720"/>
            <a:ext cx="34747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1188720"/>
            <a:ext cx="54864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2344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Cognitive Tests</a:t>
            </a:r>
            <a:br/>
            <a:r>
              <a:t>(Stroop, Flanker, DSST)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331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ADE80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743200"/>
            <a:ext cx="347472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7889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Calibri"/>
              </a:defRPr>
            </a:pPr>
            <a:r>
              <a:t>Keras ANN</a:t>
            </a:r>
            <a:br/>
            <a:r>
              <a:t>Multi-Output Regressor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188720"/>
            <a:ext cx="34747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0" y="1188720"/>
            <a:ext cx="54864" cy="109728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2344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Visual Data</a:t>
            </a:r>
            <a:br/>
            <a:r>
              <a:t>(Webcam / Eye Image)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331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BBF24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2743200"/>
            <a:ext cx="347472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27889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  <a:latin typeface="Calibri"/>
              </a:defRPr>
            </a:pPr>
            <a:r>
              <a:t>CNN (ResNet50)</a:t>
            </a:r>
            <a:br/>
            <a:r>
              <a:t>Eye Fatigue Prior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703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78BFA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703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78BFA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703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78BFA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4114800"/>
            <a:ext cx="7589520" cy="1097280"/>
          </a:xfrm>
          <a:prstGeom prst="roundRect">
            <a:avLst/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286000" y="4114800"/>
            <a:ext cx="7589520" cy="54864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420624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78BFA"/>
                </a:solidFill>
                <a:latin typeface="Calibri"/>
              </a:defRPr>
            </a:pPr>
            <a:r>
              <a:t>Multimodal Late Fusion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66344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Confidence-Weighted Log-Linear Opinion Pooling  |  Dynamic Model Trust Allocation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5257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ADE80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5669280"/>
            <a:ext cx="5760720" cy="914400"/>
          </a:xfrm>
          <a:prstGeom prst="roundRect">
            <a:avLst/>
          </a:prstGeom>
          <a:solidFill>
            <a:srgbClr val="142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00400" y="5669280"/>
            <a:ext cx="5760720" cy="54864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57607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ADE80"/>
                </a:solidFill>
                <a:latin typeface="Calibri"/>
              </a:defRPr>
            </a:pPr>
            <a:r>
              <a:t>Final Risk: Low / Medium / High  |  Health Score  |  Gamer Archetype  |  PDF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03  Machine Learning Pipeline - Tabular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4864" cy="25603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Dataset Overview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 Source: Gaming Behavior Survey (KDU Students)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 Samples: 300 student records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 Features: 17 (demographics, gaming habits, sleep, GPA)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 Target: addiction_level (Low / Medium / High)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 Preprocessing: Label Encoding + One-Hot + MinMaxScaler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0292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4864" cy="256032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2801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Calibri"/>
              </a:defRPr>
            </a:pPr>
            <a:r>
              <a:t>Model Selection (14 Compared)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 Compared 14 classifiers including SVM, KNN, LR, DT, GB, XGBoost, RF, etc.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1">
                <a:solidFill>
                  <a:srgbClr val="4ADE80"/>
                </a:solidFill>
                <a:latin typeface="Calibri"/>
              </a:defRPr>
            </a:pPr>
            <a:r>
              <a:t>   Best Model: Stacking Ensemble (Meta-Learner)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   5-Fold CV Accuracy: 83.00% (+/-4.4%)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 Feature Importance: total_hours_week, sleep_hours, GPA dominate</a:t>
            </a:r>
          </a:p>
        </p:txBody>
      </p:sp>
      <p:pic>
        <p:nvPicPr>
          <p:cNvPr id="10" name="Picture 9" descr="chartA_cross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23360"/>
            <a:ext cx="3474720" cy="2560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3794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Cross-Validation Results</a:t>
            </a:r>
          </a:p>
        </p:txBody>
      </p:sp>
      <p:pic>
        <p:nvPicPr>
          <p:cNvPr id="12" name="Picture 11" descr="chartB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023360"/>
            <a:ext cx="3474720" cy="2560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0" y="3794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Feature Importance</a:t>
            </a:r>
          </a:p>
        </p:txBody>
      </p:sp>
      <p:pic>
        <p:nvPicPr>
          <p:cNvPr id="14" name="Picture 13" descr="chartC_cv_box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023360"/>
            <a:ext cx="3474720" cy="2560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12480" y="3794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CV Accuracy Boxplot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04  Novelty - Multimodal Late Fusion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486400" cy="5303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4864" cy="530352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  <a:latin typeface="Calibri"/>
              </a:defRPr>
            </a:pPr>
            <a:r>
              <a:t>Why Late Fusion?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Unlike early fusion (concatenating raw features), late fusion preserves the independence of each modality's model.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2000" b="1">
                <a:solidFill>
                  <a:srgbClr val="FBBF24"/>
                </a:solidFill>
                <a:latin typeface="Calibri"/>
              </a:defRPr>
            </a:pPr>
            <a:r>
              <a:t>Algorithm: Log-Linear Opinion Pooling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P_fused(y)  =  Product of P_k(y)^(w_k)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Where w_k = confidence weight of model k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38BDF8"/>
                </a:solidFill>
                <a:latin typeface="Calibri"/>
              </a:defRPr>
            </a:pPr>
            <a:r>
              <a:t>Key Properties: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 Confident models get higher weights automatically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 Uncertain modalities are gracefully suppressed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 Missing modalities default to uniform priors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 Mathematically grounded in Bayesian probability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188720"/>
            <a:ext cx="48463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0" y="1188720"/>
            <a:ext cx="54864" cy="228600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2801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Calibri"/>
              </a:defRPr>
            </a:pPr>
            <a:r>
              <a:t>Fusion Evaluation Results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RF-Only Mean Accuracy:          76.3%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Fused Realistic Accuracy:         79.3%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Fused Best-Case Accuracy:       79.0%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4ADE80"/>
                </a:solidFill>
                <a:latin typeface="Calibri"/>
              </a:defRPr>
            </a:pPr>
            <a:r>
              <a:t>Improvement:                              +3.0%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749039"/>
            <a:ext cx="48463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0" y="3749039"/>
            <a:ext cx="54864" cy="27432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38404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Three Voting Modalities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38BDF8"/>
                </a:solidFill>
                <a:latin typeface="Calibri"/>
              </a:defRPr>
            </a:pPr>
            <a:r>
              <a:t>1. RF Vote (Tabular)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 predict_proba -&gt; 3-class probability vector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4ADE80"/>
                </a:solidFill>
                <a:latin typeface="Calibri"/>
              </a:defRPr>
            </a:pPr>
            <a:r>
              <a:t>2. Cognitive ANN Vote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 Attention + Memory -&gt; Softmax evidence classifier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FBBF24"/>
                </a:solidFill>
                <a:latin typeface="Calibri"/>
              </a:defRPr>
            </a:pPr>
            <a:r>
              <a:t>3. Eye Fatigue CNN Prior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 Fatigue score -&gt; Heuristic probability mapping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05  Novelty - Clinical Neuropsychological Tests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1234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4864" cy="12344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143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Stroop Interference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43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94A3B8"/>
                </a:solidFill>
                <a:latin typeface="Calibri"/>
              </a:defRPr>
            </a:pPr>
            <a:r>
              <a:t>Inhibitory Control &amp; Selective 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08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Identify FONT COLOR while ignoring the word text. Measures frontal lobe cognitive fatigue - the gold standard in clinical neuropsychology.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10698480" cy="1234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54864" cy="12344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14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Calibri"/>
              </a:defRPr>
            </a:pPr>
            <a:r>
              <a:t>Visuospatial Grid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14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94A3B8"/>
                </a:solidFill>
                <a:latin typeface="Calibri"/>
              </a:defRPr>
            </a:pPr>
            <a:r>
              <a:t>Working Memory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Memorize 5 highlighted tiles in a 4x4 grid, then reproduce the pattern. Evaluates gaming-critical spatial working memory.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10698480" cy="1234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54864" cy="12344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886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Calibri"/>
              </a:defRPr>
            </a:pPr>
            <a:r>
              <a:t>Eriksen Flanker Task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8862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94A3B8"/>
                </a:solidFill>
                <a:latin typeface="Calibri"/>
              </a:defRPr>
            </a:pPr>
            <a:r>
              <a:t>Spatial Selective Attention &amp; Reaction 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51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Identify the direction of the CENTER arrow amid distracting flankers (e.g., &lt;&lt;&gt;&lt;&lt;). Measures the brain's ability to filter peripheral noise.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80"/>
            <a:ext cx="10698480" cy="1234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5212080"/>
            <a:ext cx="54864" cy="12344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257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Symbol-Digit Substitution (DSST)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257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94A3B8"/>
                </a:solidFill>
                <a:latin typeface="Calibri"/>
              </a:defRPr>
            </a:pPr>
            <a:r>
              <a:t>Information Processing Speed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623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Decode a symbol to number mapping as fast as possible. A sensitive clinical probe for sustained attention, visual scanning, and motor coordination.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06  Novelty - Live Webcam Eye Fatigue Scanner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4864" cy="27432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Calibri"/>
              </a:defRPr>
            </a:pPr>
            <a:r>
              <a:t>CNN Pipeline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 Dataset: MRL Eye Dataset (Fusek, 2018)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 Total Images: 84,898 eye samples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 Classes: Alert (Open) vs Fatigued (Closed/Droopy)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1">
                <a:solidFill>
                  <a:srgbClr val="4ADE80"/>
                </a:solidFill>
                <a:latin typeface="Calibri"/>
              </a:defRPr>
            </a:pPr>
            <a:r>
              <a:t>   Model 1: Custom CNN - Test Acc: 93.39%, AUC: 0.96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 Model 2: ResNet50 Transfer Learning - AUC: 0.89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 Live webcam integration via st.camera_input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0292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4864" cy="27432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2801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OpenCV Feature Extraction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4 Ocular Biomarkers Extracted: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1. Eye Openness Ratio (Haar Cascade detection)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2. Sclera Redness Index (color channel analysis)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3. Pixel Brightness (mean grayscale intensity)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4. Image Contrast (standard deviation of intensities)</a:t>
            </a:r>
          </a:p>
        </p:txBody>
      </p:sp>
      <p:pic>
        <p:nvPicPr>
          <p:cNvPr id="10" name="Picture 9" descr="eye1_training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97680"/>
            <a:ext cx="3474720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4069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CNN Training History</a:t>
            </a:r>
          </a:p>
        </p:txBody>
      </p:sp>
      <p:pic>
        <p:nvPicPr>
          <p:cNvPr id="12" name="Picture 11" descr="eye2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297680"/>
            <a:ext cx="3474720" cy="2286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0" y="4069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CNN Confusion Matrix</a:t>
            </a:r>
          </a:p>
        </p:txBody>
      </p:sp>
      <p:pic>
        <p:nvPicPr>
          <p:cNvPr id="14" name="Picture 13" descr="resnet_eye_training_his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297680"/>
            <a:ext cx="3474720" cy="228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12480" y="4069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ResNet Training 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07  Results &amp; Evaluation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5303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Model / Component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234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234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234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Stacking Ensemble (Tabular)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5-Fold CV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83.00% (+/-4.4%)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Best Classifier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240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Cognitive ANN (Keras)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Attention R2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0.43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2697480"/>
            <a:ext cx="105156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743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Cognitive ANN (Keras)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Memory R2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0.18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Fair (noise expected)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246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CNN Eye Fatigue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Test Accuracy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93.39%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Excellent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7490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CNN Eye Fatigue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AUC-ROC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0.96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Excellent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251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ResNet50 Transfer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AUC-ROC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0.89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Good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754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Late Fusion (RF only)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Mean CV Acc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76.3%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257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Late Fusion (Realistic)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Mean CV Acc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79.3%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+3.0% Improvement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5760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K-Means Clustering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Gamer Archetypes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4 Clusters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Validated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08  Web Application - Streamlit v5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685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4864" cy="6858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Home &amp; Multimodal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143000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Student inputs -&gt; RF + ANN + CNN fused -&gt; Risk Level + Health Score + Gamer Archetype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10698480" cy="685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54864" cy="68580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202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Cognitive &amp; Biometric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920239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4 clinical neuropsych tests: Stroop, Grid Memory, Flanker, Symbol-Digit Coding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10698480" cy="685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651760"/>
            <a:ext cx="54864" cy="6858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6974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Eye Fatigue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697479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Live webcam capture via st.camera_input -&gt; OpenCV ocular biomarker extraction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29000"/>
            <a:ext cx="10698480" cy="685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429000"/>
            <a:ext cx="54864" cy="6858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474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What-If Lab &amp; Radar Profiling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474720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Interactive sensitivity simulator + 6-axis radar chart vs population benchmarks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06240"/>
            <a:ext cx="10698480" cy="685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206240"/>
            <a:ext cx="54864" cy="68580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2519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Detox &amp; Routine Planner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251959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20-20-20 Eye Strain Pomodoro timer + dynamic daily gaming budget calculator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983480"/>
            <a:ext cx="10698480" cy="685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4983480"/>
            <a:ext cx="54864" cy="6858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029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Model Performance &amp; Insights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029200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14-model comparison, RF evaluation charts, Multimodal Fusion JSON benchmark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760720"/>
            <a:ext cx="10698480" cy="685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" y="5760720"/>
            <a:ext cx="54864" cy="6858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806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PDF Assessment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806440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ReportLab-generated clinical report with dual sign-off block for KDU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5836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Calibri"/>
              </a:defRPr>
            </a:pPr>
            <a:r>
              <a:t>Live Demo: streamlit run app_v5.py  -&gt;  localhost:8501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09  Conclusion &amp;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4864" cy="502920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DE80"/>
                </a:solidFill>
                <a:latin typeface="Calibri"/>
              </a:defRPr>
            </a:pPr>
            <a:r>
              <a:t>Key Contributions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First multimodal fusion system combining survey, cognitive, and visual data for gaming addiction prediction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Late Fusion achieves +3% accuracy improvement over single-model baseline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CNN Eye Fatigue detector achieves 93.39% accuracy (AUC 0.96)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Clinically validated neuropsychological test battery (Stroop, Flanker, DSST, Grid Memory)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Full-stack Streamlit deployment with interactive What-If simulator and PDF report generation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K-Means clustering identifies 4 distinct gamer archetypes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029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4864" cy="50292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2801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Calibri"/>
              </a:defRPr>
            </a:pPr>
            <a:r>
              <a:t>Future Work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Collect unified dataset combining eye images + addiction labels from same cohort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Expand dataset to 1000+ students from multiple Sri Lankan universities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Integrate EEG headband data as a 4th modality for neural attention measurement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Develop a mobile companion app for continuous gaming behavior monitoring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Deploy to cloud (AWS/GCP) for multi-university access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Explore attention-based transformer fusion as a next-gen alternative to log-linear pooling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8BDF8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  <a:latin typeface="Calibri"/>
              </a:defRPr>
            </a:pPr>
            <a:r>
              <a:t>P R M K Herath  |  D/BCS/23/0009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BSc (Hons) Computer Science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General Sir John Kotelawala Defence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